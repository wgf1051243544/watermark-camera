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各位评委、各位同仁，大家好！我是长虹社区卫生服务中心姜雪冰，今天汇报的项目是《PDCA提高老年人健康管理率》。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本次汇报分为五个部分：项目背景、指标目标、原因分析、PDCA循环改进过程、以及成效总结。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项目团队由7名成员组成，涵盖副主任医师、主治医师、护师等多岗位，实现医护公卫协同。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选题依据国家健康中国与基本公共卫生服务规范，结合辖区实际人口任务和考核压力。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用数据说话：2024年未达标，2025年初仅7.38%，问题紧迫。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明确指标公式、定义、目标值和预期社会效益。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运用鱼骨图从人、机、料、法、环等维度分析，归纳三大主因：健康宣教不足、全科思维不足、家医服务包未完成。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柏拉图验证：前三项原因累计占80%，为对策拟定的重点方向。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针对三大真因，逐一拟定对策、明确时间地点和责任人。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三项核心实施举措：培训、全科思维、义诊上门。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数据证明改进有效：从7.38%提升至65%，超额完成64%目标。5-12月持续上升。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Action阶段：总结成效、分析问题、制定标准化巩固措施。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从质量、方法、服务、机制、社会效益、推广性六个维度总结项目价值。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感谢各位评委聆听，请批评指正！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011680"/>
            <a:ext cx="12191695" cy="4572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0" y="3200400"/>
            <a:ext cx="1371600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9A227"/>
                </a:solidFill>
              </a:defRPr>
            </a:pPr>
            <a:r>
              <a:t>广西骨伤医院 · 2025年提升医疗质量与服务能力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PDCA提高老年人健康管理率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defRPr sz="1600">
                <a:solidFill>
                  <a:srgbClr val="CCDDEE"/>
                </a:solidFill>
              </a:defRPr>
            </a:pPr>
            <a:r>
              <a:t>汇报单位：长虹社区卫生服务中心</a:t>
            </a:r>
          </a:p>
          <a:p>
            <a:pPr>
              <a:spcBef>
                <a:spcPts val="600"/>
              </a:spcBef>
              <a:defRPr sz="1600">
                <a:solidFill>
                  <a:srgbClr val="CCDDEE"/>
                </a:solidFill>
              </a:defRPr>
            </a:pPr>
            <a:r>
              <a:t>项目负责人：姜雪冰  副主任医师</a:t>
            </a:r>
          </a:p>
          <a:p>
            <a:pPr>
              <a:spcBef>
                <a:spcPts val="600"/>
              </a:spcBef>
              <a:defRPr sz="1600">
                <a:solidFill>
                  <a:srgbClr val="CCDDEE"/>
                </a:solidFill>
              </a:defRPr>
            </a:pPr>
            <a:r>
              <a:t>汇报日期：2025年3月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A227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B45"/>
                </a:solidFill>
              </a:defRPr>
            </a:pPr>
            <a:r>
              <a:t>项目背景</a:t>
            </a:r>
          </a:p>
          <a:p>
            <a:pPr>
              <a:defRPr sz="1200">
                <a:solidFill>
                  <a:srgbClr val="1A7A8C"/>
                </a:solidFill>
              </a:defRPr>
            </a:pPr>
            <a:r>
              <a:t>政策依据 · 问题现状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474720" cy="2011680"/>
          </a:xfrm>
          <a:prstGeom prst="roundRect">
            <a:avLst/>
          </a:prstGeom>
          <a:solidFill>
            <a:srgbClr val="E8F4F6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A227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24028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B45"/>
                </a:solidFill>
              </a:defRPr>
            </a:pPr>
            <a:r>
              <a:t>指标与目标</a:t>
            </a:r>
          </a:p>
          <a:p>
            <a:pPr>
              <a:defRPr sz="1200">
                <a:solidFill>
                  <a:srgbClr val="1A7A8C"/>
                </a:solidFill>
              </a:defRPr>
            </a:pPr>
            <a:r>
              <a:t>监测指标 · 改进目标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64592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A227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24028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B45"/>
                </a:solidFill>
              </a:defRPr>
            </a:pPr>
            <a:r>
              <a:t>原因分析</a:t>
            </a:r>
          </a:p>
          <a:p>
            <a:pPr>
              <a:defRPr sz="1200">
                <a:solidFill>
                  <a:srgbClr val="1A7A8C"/>
                </a:solidFill>
              </a:defRPr>
            </a:pPr>
            <a:r>
              <a:t>鱼骨图 · 柏拉图验证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3474720" cy="2011680"/>
          </a:xfrm>
          <a:prstGeom prst="roundRect">
            <a:avLst/>
          </a:prstGeom>
          <a:solidFill>
            <a:srgbClr val="E8F4F6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23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A227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B45"/>
                </a:solidFill>
              </a:defRPr>
            </a:pPr>
            <a:r>
              <a:t>PDCA循环</a:t>
            </a:r>
          </a:p>
          <a:p>
            <a:pPr>
              <a:defRPr sz="1200">
                <a:solidFill>
                  <a:srgbClr val="1A7A8C"/>
                </a:solidFill>
              </a:defRPr>
            </a:pPr>
            <a:r>
              <a:t>计划 · 执行 · 检查 · 处理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3840480"/>
            <a:ext cx="34747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402336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C9A227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617720"/>
            <a:ext cx="3017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2B45"/>
                </a:solidFill>
              </a:defRPr>
            </a:pPr>
            <a:r>
              <a:t>成效总结</a:t>
            </a:r>
          </a:p>
          <a:p>
            <a:pPr>
              <a:defRPr sz="1200">
                <a:solidFill>
                  <a:srgbClr val="1A7A8C"/>
                </a:solidFill>
              </a:defRPr>
            </a:pPr>
            <a:r>
              <a:t>数据成果 · 持续改进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项目团队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PROJECT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2697480" cy="4114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姓名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325880"/>
            <a:ext cx="2697480" cy="4114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3898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年龄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79" y="1325880"/>
            <a:ext cx="2697480" cy="4114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898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职称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399" y="1325880"/>
            <a:ext cx="2697480" cy="41148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39" y="138988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分工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8013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姜雪冰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1737360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8013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48岁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79" y="1737360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013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副主任医师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399" y="1737360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39" y="180136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项目负责人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212848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27685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黄文乐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37560" y="2212848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227685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33岁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79" y="2212848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227685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主管护师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399" y="2212848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39" y="227685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公卫培训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688336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75234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李俊洁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37560" y="2688336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29000" y="275234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39岁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79" y="2688336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275234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副主任护师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399" y="2688336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39" y="2752344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健康管理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163824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322783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莫威浪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37560" y="3163824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322783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35岁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79" y="3163824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22783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主治医师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15399" y="3163824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06839" y="322783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全科诊疗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363931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甘艳凤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363931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9000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38岁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79" y="363931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0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主管护师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399" y="3639312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39" y="370332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家医签约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114800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417880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唐诗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37560" y="4114800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29000" y="417880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27岁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6479" y="4114800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17920" y="417880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护师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915399" y="4114800"/>
            <a:ext cx="2697480" cy="438912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006839" y="4178808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健康宣教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59028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6542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罗文清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37560" y="459028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29000" y="46542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27岁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79" y="459028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6542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护士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15399" y="4590288"/>
            <a:ext cx="26974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006839" y="4654296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556677"/>
                </a:solidFill>
              </a:defRPr>
            </a:pPr>
            <a:r>
              <a:t>上门服务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A7A8C"/>
                </a:solidFill>
              </a:defRPr>
            </a:pPr>
            <a:r>
              <a:t>项目启动日期：2025年3月  |  多学科协作 · 医护公卫联动 · 全科思维贯穿全程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选题背景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22860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政策依据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《"健康中国2030"规划纲要》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《国家基本公共卫生服务规范》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2024年青秀区基层卫生医疗机构公卫服务任务要求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2286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89888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辖区基本情况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管辖人口：31,012人次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年度任务指标：约2,128人（65岁及以上）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考核要求：老年人城乡社区规范健康管理服务率≥64%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49039"/>
            <a:ext cx="1133856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749039"/>
            <a:ext cx="73152" cy="210312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58767"/>
            <a:ext cx="11018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选题理由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经对长虹社区老年人健康管理情况分析，若不完成相关指标，公卫年度考核将不通过，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直接影响年度服务人口划分及服务内容落实。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本项目以PDCA循环为工具，系统提升老年人健康管理率，保障公卫服务质量。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问题陈述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94560" cy="4572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356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时间段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4572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4356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完成体检人数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2194560" cy="4572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4356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任务目标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1371600"/>
            <a:ext cx="2194560" cy="4572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14356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健康管理率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1371600"/>
            <a:ext cx="2194560" cy="4572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43560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状态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74519"/>
            <a:ext cx="2194560" cy="45720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38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2024年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874519"/>
            <a:ext cx="2194560" cy="45720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1938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1,246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1874519"/>
            <a:ext cx="2194560" cy="45720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1938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2,128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874519"/>
            <a:ext cx="2194560" cy="45720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1938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58.6%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1874519"/>
            <a:ext cx="2194560" cy="45720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193852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C0392B"/>
                </a:solidFill>
              </a:defRPr>
            </a:pPr>
            <a:r>
              <a:t>未达标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377439"/>
            <a:ext cx="2194560" cy="457200"/>
          </a:xfrm>
          <a:prstGeom prst="rect">
            <a:avLst/>
          </a:prstGeom>
          <a:solidFill>
            <a:srgbClr val="FDE8E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441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2025年1-3月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2377439"/>
            <a:ext cx="2194560" cy="457200"/>
          </a:xfrm>
          <a:prstGeom prst="rect">
            <a:avLst/>
          </a:prstGeom>
          <a:solidFill>
            <a:srgbClr val="FDE8E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88920" y="2441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318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0" y="2377439"/>
            <a:ext cx="2194560" cy="457200"/>
          </a:xfrm>
          <a:prstGeom prst="rect">
            <a:avLst/>
          </a:prstGeom>
          <a:solidFill>
            <a:srgbClr val="FDE8E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2441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2C3E50"/>
                </a:solidFill>
              </a:defRPr>
            </a:pPr>
            <a:r>
              <a:t>2,128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2377439"/>
            <a:ext cx="2194560" cy="457200"/>
          </a:xfrm>
          <a:prstGeom prst="rect">
            <a:avLst/>
          </a:prstGeom>
          <a:solidFill>
            <a:srgbClr val="FDE8E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2441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</a:defRPr>
            </a:pPr>
            <a:r>
              <a:t>7.38%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2377439"/>
            <a:ext cx="2194560" cy="457200"/>
          </a:xfrm>
          <a:prstGeom prst="rect">
            <a:avLst/>
          </a:prstGeom>
          <a:solidFill>
            <a:srgbClr val="FDE8E8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46920" y="2441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C0392B"/>
                </a:solidFill>
              </a:defRPr>
            </a:pPr>
            <a:r>
              <a:t>严重偏低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108960"/>
            <a:ext cx="113385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2461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A8C"/>
                </a:solidFill>
              </a:defRPr>
            </a:pPr>
            <a:r>
              <a:t>核心问题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2024年7月划分人口后至年底，65岁及以上老年人体检仅完成1,246人次，距2,128人目标差距明显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2025年一季度健康管理率仅7.38%，远低于64%的考核要求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若不干预，将影响公卫年度考核通过及服务人口划分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亟需运用质量管理工具，查找真因、制定对策、系统改进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监测指标与改进目标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INDICATORS &amp; GOALS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338560" cy="1005840"/>
          </a:xfrm>
          <a:prstGeom prst="round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老年人健康管理率 ＝  年内接受健康管理人数  ÷  年内辖区65岁及以上常住居民数  ×  100%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73152" cy="201168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78608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指标定义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接受健康管理须同时满足：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① 建立健康档案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② 接受健康体检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③ 获得健康指导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④ 健康体检表填写完整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6888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468880"/>
            <a:ext cx="73152" cy="20116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578608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改进目标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南宁市考核目标：≥64%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项目预期目标：年终完成2,128人次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项目启动时现状：7.38%（2025年1-3月）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改进后达成：65%（12月达65.50%）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3385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663440"/>
            <a:ext cx="73152" cy="13716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73168"/>
            <a:ext cx="11018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预期延伸效益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通过定期体检、健康评估和个性化指导，早期发现高血压、糖尿病、心血管疾病等慢性病，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及时干预治疗，降低致残率和病死率，延长老年人健康寿命。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原因分析 — 鱼骨图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CAUSE ANALYSIS · ISHIKAWA</a:t>
            </a:r>
          </a:p>
        </p:txBody>
      </p:sp>
      <p:pic>
        <p:nvPicPr>
          <p:cNvPr id="6" name="Picture 5" descr="fishbone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774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真因验证 — 柏拉图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ROOT CAUSE · PARETO</a:t>
            </a:r>
          </a:p>
        </p:txBody>
      </p:sp>
      <p:pic>
        <p:nvPicPr>
          <p:cNvPr id="6" name="Picture 5" descr="pareto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858000" cy="4572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371600"/>
            <a:ext cx="42976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59" y="1508760"/>
            <a:ext cx="3931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7A8C"/>
                </a:solidFill>
              </a:defRPr>
            </a:pPr>
            <a:r>
              <a:t>真因排序结论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健康宣教不足（45%）— 首要真因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全科思维模式不足（35%）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家庭医师服务包未完成（20%）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前三项累计占比80%，符合帕累托法则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对策应优先针对前三项真因制定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对策拟定（Plan）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PDCA ·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2011680" cy="43891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真因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325880"/>
            <a:ext cx="2011680" cy="43891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89888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对策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2560320" cy="43891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389888"/>
            <a:ext cx="2468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实施方式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95160" y="1325880"/>
            <a:ext cx="1828800" cy="43891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0" y="1389888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时间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59" y="1325880"/>
            <a:ext cx="1645920" cy="438912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79" y="13898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地点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764792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182880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健康宣教不足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1764792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6312" y="1828800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加强健康宣教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1764792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1828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每月外出2次义诊及人员培训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1764792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68312" y="1828800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2025.3.26-6.20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59" y="1764792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7111" y="182880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辖区及中心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423160"/>
            <a:ext cx="2011680" cy="59436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248716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全科思维模式不足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23160" y="2423160"/>
            <a:ext cx="2011680" cy="59436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96312" y="2487168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外派人员学习及培训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2423160"/>
            <a:ext cx="2560320" cy="59436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2487168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每季度一次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2423160"/>
            <a:ext cx="1828800" cy="59436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68312" y="2487168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2025.6.21-7.12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23959" y="2423160"/>
            <a:ext cx="1645920" cy="594360"/>
          </a:xfrm>
          <a:prstGeom prst="rect">
            <a:avLst/>
          </a:prstGeom>
          <a:solidFill>
            <a:srgbClr val="E8F4F6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97111" y="2487168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中心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081528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" y="3145536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家医服务包未完成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3160" y="3081528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96312" y="3145536"/>
            <a:ext cx="1874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逐步落实服务包应用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3081528"/>
            <a:ext cx="25603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7992" y="3145536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长期推进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95160" y="3081528"/>
            <a:ext cx="18288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68312" y="3145536"/>
            <a:ext cx="1691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2025.8.13-10.5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59" y="3081528"/>
            <a:ext cx="16459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7111" y="3145536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</a:defRPr>
            </a:pPr>
            <a:r>
              <a:t>中心</a:t>
            </a:r>
          </a:p>
        </p:txBody>
      </p:sp>
      <p:pic>
        <p:nvPicPr>
          <p:cNvPr id="46" name="Picture 45" descr="pdca-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384048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对策实施（Do）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PDCA · DO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371600"/>
            <a:ext cx="10332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5087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B45"/>
                </a:solidFill>
              </a:defRPr>
            </a:pPr>
            <a:r>
              <a:t>公卫规范培训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加强公卫小组成员基本规范业务培训，统一服务标准与操作流程。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9718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0815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971800"/>
            <a:ext cx="10332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1089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B45"/>
                </a:solidFill>
              </a:defRPr>
            </a:pPr>
            <a:r>
              <a:t>全科思维培训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加强医师全科思维业务培训，开展全员医疗与卫生联动家庭医师签约模式培训。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572000"/>
            <a:ext cx="640080" cy="64008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6817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572000"/>
            <a:ext cx="10332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70916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2B45"/>
                </a:solidFill>
              </a:defRPr>
            </a:pPr>
            <a:r>
              <a:t>义诊上门服务</a:t>
            </a:r>
          </a:p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增加外出义诊及家医上门服务频次，将服务延伸至社区居民身边。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效果评价（Study）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PDCA · STUDY</a:t>
            </a:r>
          </a:p>
        </p:txBody>
      </p:sp>
      <p:pic>
        <p:nvPicPr>
          <p:cNvPr id="6" name="Picture 5" descr="trend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7772400" cy="38517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38160" y="1371600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0020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2B45"/>
                </a:solidFill>
              </a:defRPr>
            </a:pPr>
            <a:r>
              <a:t>7.38%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1600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改进前</a:t>
            </a:r>
            <a:br/>
            <a:r>
              <a:t>(2025.3月)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371600"/>
            <a:ext cx="1783080" cy="1554480"/>
          </a:xfrm>
          <a:prstGeom prst="roundRect">
            <a:avLst/>
          </a:prstGeom>
          <a:solidFill>
            <a:srgbClr val="0D2B45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0" y="160020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9A227"/>
                </a:solidFill>
              </a:defRPr>
            </a:pPr>
            <a:r>
              <a:t>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40" y="2286000"/>
            <a:ext cx="1600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改进后</a:t>
            </a:r>
            <a:br/>
            <a:r>
              <a:t>(年终)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200400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42900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2B45"/>
                </a:solidFill>
              </a:defRPr>
            </a:pPr>
            <a:r>
              <a:t>+57.6%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1600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提升幅度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3200400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0" y="3429000"/>
            <a:ext cx="1600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D2B45"/>
                </a:solidFill>
              </a:defRPr>
            </a:pPr>
            <a:r>
              <a:t>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4114800"/>
            <a:ext cx="1600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C3E50"/>
                </a:solidFill>
              </a:defRPr>
            </a:pPr>
            <a:r>
              <a:t>考核目标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5120640"/>
            <a:ext cx="3749039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5257800"/>
            <a:ext cx="33832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2C3E50"/>
                </a:solidFill>
              </a:defRPr>
            </a:pPr>
            <a:r>
              <a:t>● 学习内容：质控工具运用、《国家基本公共卫生服务规范》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标准化巩固（Action）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PDCA · 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577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1828800"/>
          </a:xfrm>
          <a:prstGeom prst="rect">
            <a:avLst/>
          </a:prstGeom>
          <a:solidFill>
            <a:srgbClr val="1A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改进成效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本轮持续改进后，长虹社区老年人健康管理率较前明显提高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12月健康管理率达65.50%，超额完成考核目标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778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89888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仍存问题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宣教形式单一、专业术语多、未考虑老年人视听能力下降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医护缺乏系统全科培训，病例讨论未形成制度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任务分工不明、签约服务停留纸面、医生动力不足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3611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73152" cy="2560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01568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宣教创新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药品说明书、膳食指南转化为实物模型（盐勺、油壶、食物模具）及大字图画版手册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291840"/>
            <a:ext cx="3611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3291840"/>
            <a:ext cx="73152" cy="2560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401568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思维固化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设计《全科接诊思维导图》台卡，放置诊室，兼顾生物-心理-社会模式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291840"/>
            <a:ext cx="36118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291840"/>
            <a:ext cx="73152" cy="2560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401568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2B45"/>
                </a:solidFill>
              </a:defRPr>
            </a:pPr>
            <a:r>
              <a:t>激励机制</a:t>
            </a:r>
          </a:p>
          <a:p>
            <a:pPr>
              <a:spcBef>
                <a:spcPts val="600"/>
              </a:spcBef>
              <a:defRPr sz="1200">
                <a:solidFill>
                  <a:srgbClr val="2C3E50"/>
                </a:solidFill>
              </a:defRPr>
            </a:pPr>
            <a:r>
              <a:t>确立"按劳分配"原则，明确完成完整服务包的绩效奖励标准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项目成效与推广价值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9A227"/>
                </a:solidFill>
              </a:defRPr>
            </a:pPr>
            <a:r>
              <a:t>ACHIEVEMENTS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0876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B45"/>
                </a:solidFill>
              </a:defRPr>
            </a:pPr>
            <a:r>
              <a:t>质量提升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老年人健康管理率从7.38%提升至65%，超额完成64%考核目标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7160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155448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0876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B45"/>
                </a:solidFill>
              </a:defRPr>
            </a:pPr>
            <a:r>
              <a:t>方法科学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熟练运用PDCA、鱼骨图、柏拉图等质量管理工具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0" y="155448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150876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B45"/>
                </a:solidFill>
              </a:defRPr>
            </a:pPr>
            <a:r>
              <a:t>服务延伸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义诊上门、家医签约、个性化健康指导全面落地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7472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6576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1188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B45"/>
                </a:solidFill>
              </a:defRPr>
            </a:pPr>
            <a:r>
              <a:t>持续改进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建立宣教创新、全科思维、绩效激励长效机制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47472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34840" y="36576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361188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B45"/>
                </a:solidFill>
              </a:defRPr>
            </a:pPr>
            <a:r>
              <a:t>社会效益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早期发现慢性病，降低致残病死率，延长健康寿命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474720"/>
            <a:ext cx="36118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A7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3657600"/>
            <a:ext cx="320040" cy="320040"/>
          </a:xfrm>
          <a:prstGeom prst="ellipse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1080" y="3611880"/>
            <a:ext cx="283464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2B45"/>
                </a:solidFill>
              </a:defRPr>
            </a:pPr>
            <a:r>
              <a:t>可推广性</a:t>
            </a:r>
          </a:p>
          <a:p>
            <a:pPr>
              <a:spcBef>
                <a:spcPts val="600"/>
              </a:spcBef>
              <a:defRPr sz="1100">
                <a:solidFill>
                  <a:srgbClr val="2C3E50"/>
                </a:solidFill>
              </a:defRPr>
            </a:pPr>
            <a:r>
              <a:t>模式可借鉴至其他社区卫生服务中心公卫项目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503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1000"/>
              </a:spcBef>
              <a:defRPr sz="1800">
                <a:solidFill>
                  <a:srgbClr val="C9A227"/>
                </a:solidFill>
              </a:defRPr>
            </a:pPr>
            <a:r>
              <a:t>长虹社区卫生服务中心</a:t>
            </a:r>
          </a:p>
          <a:p>
            <a:pPr algn="ctr">
              <a:spcBef>
                <a:spcPts val="1000"/>
              </a:spcBef>
              <a:defRPr sz="1800">
                <a:solidFill>
                  <a:srgbClr val="C9A227"/>
                </a:solidFill>
              </a:defRPr>
            </a:pPr>
            <a:r>
              <a:t>汇报人：姜雪冰</a:t>
            </a:r>
          </a:p>
          <a:p>
            <a:pPr algn="ctr">
              <a:spcBef>
                <a:spcPts val="1000"/>
              </a:spcBef>
              <a:defRPr sz="1800">
                <a:solidFill>
                  <a:srgbClr val="C9A227"/>
                </a:solidFill>
              </a:defRPr>
            </a:pPr>
            <a:r>
              <a:t>敬请各位评委批评指正！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